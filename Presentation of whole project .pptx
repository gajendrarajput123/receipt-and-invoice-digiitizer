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Poppins Bold" charset="1" panose="00000800000000000000"/>
      <p:regular r:id="rId18"/>
    </p:embeddedFont>
    <p:embeddedFont>
      <p:font typeface="Canva Sans" charset="1" panose="020B0503030501040103"/>
      <p:regular r:id="rId19"/>
    </p:embeddedFont>
    <p:embeddedFont>
      <p:font typeface="League Spartan" charset="1" panose="00000800000000000000"/>
      <p:regular r:id="rId20"/>
    </p:embeddedFont>
    <p:embeddedFont>
      <p:font typeface="Poppins" charset="1" panose="00000500000000000000"/>
      <p:regular r:id="rId21"/>
    </p:embeddedFont>
    <p:embeddedFont>
      <p:font typeface="Archivo Black" charset="1" panose="020B0A03020202020B04"/>
      <p:regular r:id="rId22"/>
    </p:embeddedFont>
    <p:embeddedFont>
      <p:font typeface="Canva Sans Bold" charset="1" panose="020B0803030501040103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3086100" cy="10287000"/>
            <a:chOff x="0" y="0"/>
            <a:chExt cx="812800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539575" y="2778419"/>
            <a:ext cx="13386350" cy="1161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28"/>
              </a:lnSpc>
              <a:spcBef>
                <a:spcPct val="0"/>
              </a:spcBef>
            </a:pPr>
            <a:r>
              <a:rPr lang="en-US" b="true" sz="637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RECEIPT AND INVOICE DIGITIZER</a:t>
            </a:r>
          </a:p>
        </p:txBody>
      </p:sp>
      <p:sp>
        <p:nvSpPr>
          <p:cNvPr name="AutoShape 7" id="7"/>
          <p:cNvSpPr/>
          <p:nvPr/>
        </p:nvSpPr>
        <p:spPr>
          <a:xfrm flipV="true">
            <a:off x="5095335" y="4462595"/>
            <a:ext cx="9687995" cy="2050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3763158" y="387350"/>
            <a:ext cx="4160184" cy="4114800"/>
          </a:xfrm>
          <a:custGeom>
            <a:avLst/>
            <a:gdLst/>
            <a:ahLst/>
            <a:cxnLst/>
            <a:rect r="r" b="b" t="t" l="l"/>
            <a:pathLst>
              <a:path h="4114800" w="4160184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011875" y="4734560"/>
            <a:ext cx="5287566" cy="2329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Presented By-</a:t>
            </a:r>
          </a:p>
          <a:p>
            <a:pPr algn="just">
              <a:lnSpc>
                <a:spcPts val="4340"/>
              </a:lnSpc>
            </a:pPr>
            <a:r>
              <a:rPr lang="en-US" sz="3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GajendraRajpoot</a:t>
            </a:r>
          </a:p>
          <a:p>
            <a:pPr algn="just">
              <a:lnSpc>
                <a:spcPts val="4340"/>
              </a:lnSpc>
            </a:pPr>
            <a:r>
              <a:rPr lang="en-US" sz="3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Shivangi Bhargava</a:t>
            </a:r>
          </a:p>
          <a:p>
            <a:pPr algn="just">
              <a:lnSpc>
                <a:spcPts val="4340"/>
              </a:lnSpc>
            </a:pPr>
            <a:r>
              <a:rPr lang="en-US" sz="3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Divya Sri Yaganti​​​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201900" y="0"/>
            <a:ext cx="3086100" cy="10287000"/>
            <a:chOff x="0" y="0"/>
            <a:chExt cx="812800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67836" y="1488609"/>
            <a:ext cx="6083493" cy="660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7"/>
              </a:lnSpc>
              <a:spcBef>
                <a:spcPct val="0"/>
              </a:spcBef>
            </a:pPr>
            <a:r>
              <a:rPr lang="en-US" sz="3912">
                <a:solidFill>
                  <a:srgbClr val="593C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PROBLEM STATEMENT</a:t>
            </a:r>
          </a:p>
        </p:txBody>
      </p:sp>
      <p:sp>
        <p:nvSpPr>
          <p:cNvPr name="AutoShape 7" id="7"/>
          <p:cNvSpPr/>
          <p:nvPr/>
        </p:nvSpPr>
        <p:spPr>
          <a:xfrm>
            <a:off x="1291729" y="3013810"/>
            <a:ext cx="26187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357463" y="3465676"/>
            <a:ext cx="9354577" cy="4762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0504" indent="-370252" lvl="1">
              <a:lnSpc>
                <a:spcPts val="4801"/>
              </a:lnSpc>
              <a:buFont typeface="Arial"/>
              <a:buChar char="•"/>
            </a:pPr>
            <a:r>
              <a:rPr lang="en-US" sz="34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Businesses manage many paper receipts &amp; invoices.</a:t>
            </a:r>
          </a:p>
          <a:p>
            <a:pPr algn="l" marL="740504" indent="-370252" lvl="1">
              <a:lnSpc>
                <a:spcPts val="4801"/>
              </a:lnSpc>
              <a:buFont typeface="Arial"/>
              <a:buChar char="•"/>
            </a:pPr>
            <a:r>
              <a:rPr lang="en-US" sz="34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Manual entry is time-consuming and error-prone.</a:t>
            </a:r>
          </a:p>
          <a:p>
            <a:pPr algn="l" marL="740504" indent="-370252" lvl="1">
              <a:lnSpc>
                <a:spcPts val="4801"/>
              </a:lnSpc>
              <a:buFont typeface="Arial"/>
              <a:buChar char="•"/>
            </a:pPr>
            <a:r>
              <a:rPr lang="en-US" sz="34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Receipts can be lost or damaged.</a:t>
            </a:r>
          </a:p>
          <a:p>
            <a:pPr algn="l" marL="740504" indent="-370252" lvl="1">
              <a:lnSpc>
                <a:spcPts val="4801"/>
              </a:lnSpc>
              <a:buFont typeface="Arial"/>
              <a:buChar char="•"/>
            </a:pPr>
            <a:r>
              <a:rPr lang="en-US" sz="34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Hard to search and analyze expenses.</a:t>
            </a:r>
          </a:p>
          <a:p>
            <a:pPr algn="l">
              <a:lnSpc>
                <a:spcPts val="4801"/>
              </a:lnSpc>
            </a:pPr>
          </a:p>
          <a:p>
            <a:pPr algn="l">
              <a:lnSpc>
                <a:spcPts val="480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55600" y="0"/>
            <a:ext cx="9499600" cy="10287000"/>
            <a:chOff x="0" y="0"/>
            <a:chExt cx="2501952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01952" cy="2709333"/>
            </a:xfrm>
            <a:custGeom>
              <a:avLst/>
              <a:gdLst/>
              <a:ahLst/>
              <a:cxnLst/>
              <a:rect r="r" b="b" t="t" l="l"/>
              <a:pathLst>
                <a:path h="2709333" w="2501952">
                  <a:moveTo>
                    <a:pt x="0" y="0"/>
                  </a:moveTo>
                  <a:lnTo>
                    <a:pt x="2501952" y="0"/>
                  </a:lnTo>
                  <a:lnTo>
                    <a:pt x="250195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501952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20" y="1513871"/>
            <a:ext cx="6417963" cy="738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US" sz="429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PROPOSED SOLUTION</a:t>
            </a:r>
          </a:p>
        </p:txBody>
      </p:sp>
      <p:sp>
        <p:nvSpPr>
          <p:cNvPr name="AutoShape 6" id="6"/>
          <p:cNvSpPr/>
          <p:nvPr/>
        </p:nvSpPr>
        <p:spPr>
          <a:xfrm flipV="true">
            <a:off x="1029792" y="2233059"/>
            <a:ext cx="5761990" cy="1905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8892895" y="804275"/>
            <a:ext cx="7618923" cy="7868824"/>
            <a:chOff x="0" y="0"/>
            <a:chExt cx="6350000" cy="6558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74930" y="74930"/>
              <a:ext cx="6200140" cy="6408420"/>
            </a:xfrm>
            <a:custGeom>
              <a:avLst/>
              <a:gdLst/>
              <a:ahLst/>
              <a:cxnLst/>
              <a:rect r="r" b="b" t="t" l="l"/>
              <a:pathLst>
                <a:path h="6408420" w="6200140">
                  <a:moveTo>
                    <a:pt x="6200140" y="5351780"/>
                  </a:moveTo>
                  <a:cubicBezTo>
                    <a:pt x="6200140" y="5935980"/>
                    <a:pt x="5726430" y="6408420"/>
                    <a:pt x="5143500" y="6408420"/>
                  </a:cubicBezTo>
                  <a:lnTo>
                    <a:pt x="1056640" y="6408420"/>
                  </a:lnTo>
                  <a:cubicBezTo>
                    <a:pt x="472440" y="6408420"/>
                    <a:pt x="0" y="5934710"/>
                    <a:pt x="0" y="5351780"/>
                  </a:cubicBezTo>
                  <a:lnTo>
                    <a:pt x="0" y="1056640"/>
                  </a:lnTo>
                  <a:cubicBezTo>
                    <a:pt x="0" y="472440"/>
                    <a:pt x="473710" y="0"/>
                    <a:pt x="1056640" y="0"/>
                  </a:cubicBezTo>
                  <a:lnTo>
                    <a:pt x="5143500" y="0"/>
                  </a:lnTo>
                  <a:cubicBezTo>
                    <a:pt x="5727700" y="0"/>
                    <a:pt x="6200140" y="473710"/>
                    <a:pt x="6200140" y="1056640"/>
                  </a:cubicBezTo>
                  <a:lnTo>
                    <a:pt x="6200140" y="5351780"/>
                  </a:lnTo>
                  <a:close/>
                </a:path>
              </a:pathLst>
            </a:custGeom>
            <a:blipFill>
              <a:blip r:embed="rId2"/>
              <a:stretch>
                <a:fillRect l="0" t="-11228" r="0" b="-11228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558280"/>
            </a:xfrm>
            <a:custGeom>
              <a:avLst/>
              <a:gdLst/>
              <a:ahLst/>
              <a:cxnLst/>
              <a:rect r="r" b="b" t="t" l="l"/>
              <a:pathLst>
                <a:path h="6558280" w="6350000">
                  <a:moveTo>
                    <a:pt x="5218430" y="6558280"/>
                  </a:moveTo>
                  <a:lnTo>
                    <a:pt x="1131570" y="6558280"/>
                  </a:lnTo>
                  <a:cubicBezTo>
                    <a:pt x="508000" y="6558280"/>
                    <a:pt x="0" y="6050280"/>
                    <a:pt x="0" y="5426710"/>
                  </a:cubicBezTo>
                  <a:lnTo>
                    <a:pt x="0" y="1131570"/>
                  </a:lnTo>
                  <a:cubicBezTo>
                    <a:pt x="0" y="508000"/>
                    <a:pt x="508000" y="0"/>
                    <a:pt x="1131570" y="0"/>
                  </a:cubicBezTo>
                  <a:lnTo>
                    <a:pt x="5218430" y="0"/>
                  </a:lnTo>
                  <a:cubicBezTo>
                    <a:pt x="5842000" y="0"/>
                    <a:pt x="6350000" y="508000"/>
                    <a:pt x="6350000" y="1131570"/>
                  </a:cubicBezTo>
                  <a:lnTo>
                    <a:pt x="6350000" y="5425440"/>
                  </a:lnTo>
                  <a:cubicBezTo>
                    <a:pt x="6350000" y="6050280"/>
                    <a:pt x="5842000" y="6558280"/>
                    <a:pt x="5218430" y="6558280"/>
                  </a:cubicBezTo>
                  <a:close/>
                  <a:moveTo>
                    <a:pt x="1131570" y="149860"/>
                  </a:moveTo>
                  <a:cubicBezTo>
                    <a:pt x="590550" y="149860"/>
                    <a:pt x="149860" y="590550"/>
                    <a:pt x="149860" y="1131570"/>
                  </a:cubicBezTo>
                  <a:lnTo>
                    <a:pt x="149860" y="5425440"/>
                  </a:lnTo>
                  <a:cubicBezTo>
                    <a:pt x="149860" y="5966460"/>
                    <a:pt x="590550" y="6407150"/>
                    <a:pt x="1131570" y="6407150"/>
                  </a:cubicBezTo>
                  <a:lnTo>
                    <a:pt x="5218430" y="6407150"/>
                  </a:lnTo>
                  <a:cubicBezTo>
                    <a:pt x="5759450" y="6407150"/>
                    <a:pt x="6200140" y="5966460"/>
                    <a:pt x="6200140" y="5425440"/>
                  </a:cubicBezTo>
                  <a:lnTo>
                    <a:pt x="6200140" y="1131570"/>
                  </a:lnTo>
                  <a:cubicBezTo>
                    <a:pt x="6200140" y="590550"/>
                    <a:pt x="5759450" y="149860"/>
                    <a:pt x="5218430" y="149860"/>
                  </a:cubicBezTo>
                  <a:lnTo>
                    <a:pt x="1131570" y="149860"/>
                  </a:lnTo>
                  <a:close/>
                </a:path>
              </a:pathLst>
            </a:custGeom>
            <a:solidFill>
              <a:srgbClr val="D2D2D2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-240385" y="3346687"/>
            <a:ext cx="8438116" cy="457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6"/>
              </a:lnSpc>
            </a:pPr>
            <a:r>
              <a:rPr lang="en-US" sz="3797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A system that:</a:t>
            </a:r>
          </a:p>
          <a:p>
            <a:pPr algn="ctr" marL="793687" indent="-396844" lvl="1">
              <a:lnSpc>
                <a:spcPts val="5146"/>
              </a:lnSpc>
              <a:buFont typeface="Arial"/>
              <a:buChar char="•"/>
            </a:pPr>
            <a:r>
              <a:rPr lang="en-US" sz="36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Scans receipts &amp; invoices</a:t>
            </a:r>
          </a:p>
          <a:p>
            <a:pPr algn="ctr" marL="793687" indent="-396844" lvl="1">
              <a:lnSpc>
                <a:spcPts val="5146"/>
              </a:lnSpc>
              <a:buFont typeface="Arial"/>
              <a:buChar char="•"/>
            </a:pPr>
            <a:r>
              <a:rPr lang="en-US" sz="36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Extracts text using OCR</a:t>
            </a:r>
          </a:p>
          <a:p>
            <a:pPr algn="ctr" marL="793687" indent="-396844" lvl="1">
              <a:lnSpc>
                <a:spcPts val="5146"/>
              </a:lnSpc>
              <a:buFont typeface="Arial"/>
              <a:buChar char="•"/>
            </a:pPr>
            <a:r>
              <a:rPr lang="en-US" sz="36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Identifies key data automatically</a:t>
            </a:r>
          </a:p>
          <a:p>
            <a:pPr algn="ctr" marL="793687" indent="-396844" lvl="1">
              <a:lnSpc>
                <a:spcPts val="5146"/>
              </a:lnSpc>
              <a:buFont typeface="Arial"/>
              <a:buChar char="•"/>
            </a:pPr>
            <a:r>
              <a:rPr lang="en-US" sz="36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Stores digital records</a:t>
            </a:r>
          </a:p>
          <a:p>
            <a:pPr algn="ctr" marL="793687" indent="-396844" lvl="1">
              <a:lnSpc>
                <a:spcPts val="5146"/>
              </a:lnSpc>
              <a:buFont typeface="Arial"/>
              <a:buChar char="•"/>
            </a:pPr>
            <a:r>
              <a:rPr lang="en-US" sz="367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Provides analytics &amp; reports</a:t>
            </a:r>
          </a:p>
          <a:p>
            <a:pPr algn="ctr">
              <a:lnSpc>
                <a:spcPts val="531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3908" y="752170"/>
            <a:ext cx="6997400" cy="1499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US" sz="4298">
                <a:solidFill>
                  <a:srgbClr val="593C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PROJECT OBJECTIVES AND WORKFLOW</a:t>
            </a:r>
          </a:p>
        </p:txBody>
      </p:sp>
      <p:sp>
        <p:nvSpPr>
          <p:cNvPr name="AutoShape 4" id="4"/>
          <p:cNvSpPr/>
          <p:nvPr/>
        </p:nvSpPr>
        <p:spPr>
          <a:xfrm>
            <a:off x="1976547" y="2233059"/>
            <a:ext cx="26187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7810500" y="0"/>
            <a:ext cx="10477500" cy="10287000"/>
            <a:chOff x="0" y="0"/>
            <a:chExt cx="2759506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5950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759506">
                  <a:moveTo>
                    <a:pt x="0" y="0"/>
                  </a:moveTo>
                  <a:lnTo>
                    <a:pt x="2759506" y="0"/>
                  </a:lnTo>
                  <a:lnTo>
                    <a:pt x="275950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759506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7649" y="8507397"/>
            <a:ext cx="2087283" cy="521821"/>
          </a:xfrm>
          <a:custGeom>
            <a:avLst/>
            <a:gdLst/>
            <a:ahLst/>
            <a:cxnLst/>
            <a:rect r="r" b="b" t="t" l="l"/>
            <a:pathLst>
              <a:path h="521821" w="2087283">
                <a:moveTo>
                  <a:pt x="0" y="0"/>
                </a:moveTo>
                <a:lnTo>
                  <a:pt x="2087282" y="0"/>
                </a:lnTo>
                <a:lnTo>
                  <a:pt x="2087282" y="521821"/>
                </a:lnTo>
                <a:lnTo>
                  <a:pt x="0" y="5218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525126" y="3388540"/>
            <a:ext cx="9430643" cy="3986171"/>
          </a:xfrm>
          <a:custGeom>
            <a:avLst/>
            <a:gdLst/>
            <a:ahLst/>
            <a:cxnLst/>
            <a:rect r="r" b="b" t="t" l="l"/>
            <a:pathLst>
              <a:path h="3986171" w="9430643">
                <a:moveTo>
                  <a:pt x="0" y="0"/>
                </a:moveTo>
                <a:lnTo>
                  <a:pt x="9430643" y="0"/>
                </a:lnTo>
                <a:lnTo>
                  <a:pt x="9430643" y="3986170"/>
                </a:lnTo>
                <a:lnTo>
                  <a:pt x="0" y="39861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193" t="0" r="-9193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-162976" y="3984986"/>
            <a:ext cx="9516526" cy="3633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3324" indent="-376662" lvl="1">
              <a:lnSpc>
                <a:spcPts val="4884"/>
              </a:lnSpc>
              <a:buFont typeface="Arial"/>
              <a:buChar char="•"/>
            </a:pPr>
            <a:r>
              <a:rPr lang="en-US" sz="34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Automates data extraction</a:t>
            </a:r>
          </a:p>
          <a:p>
            <a:pPr algn="l" marL="753324" indent="-376662" lvl="1">
              <a:lnSpc>
                <a:spcPts val="4884"/>
              </a:lnSpc>
              <a:buFont typeface="Arial"/>
              <a:buChar char="•"/>
            </a:pPr>
            <a:r>
              <a:rPr lang="en-US" sz="34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Reduces manual effort</a:t>
            </a:r>
          </a:p>
          <a:p>
            <a:pPr algn="l" marL="753324" indent="-376662" lvl="1">
              <a:lnSpc>
                <a:spcPts val="4884"/>
              </a:lnSpc>
              <a:buFont typeface="Arial"/>
              <a:buChar char="•"/>
            </a:pPr>
            <a:r>
              <a:rPr lang="en-US" sz="34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Ensures accurate storage</a:t>
            </a:r>
          </a:p>
          <a:p>
            <a:pPr algn="l" marL="753324" indent="-376662" lvl="1">
              <a:lnSpc>
                <a:spcPts val="4884"/>
              </a:lnSpc>
              <a:buFont typeface="Arial"/>
              <a:buChar char="•"/>
            </a:pPr>
            <a:r>
              <a:rPr lang="en-US" sz="34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Enables quick search &amp; retrieval</a:t>
            </a:r>
          </a:p>
          <a:p>
            <a:pPr algn="l" marL="753324" indent="-376662" lvl="1">
              <a:lnSpc>
                <a:spcPts val="4884"/>
              </a:lnSpc>
              <a:buFont typeface="Arial"/>
              <a:buChar char="•"/>
            </a:pPr>
            <a:r>
              <a:rPr lang="en-US" sz="34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Provides expense insights</a:t>
            </a:r>
          </a:p>
          <a:p>
            <a:pPr algn="l">
              <a:lnSpc>
                <a:spcPts val="488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03951" y="-277958"/>
            <a:ext cx="18591951" cy="11499009"/>
          </a:xfrm>
          <a:custGeom>
            <a:avLst/>
            <a:gdLst/>
            <a:ahLst/>
            <a:cxnLst/>
            <a:rect r="r" b="b" t="t" l="l"/>
            <a:pathLst>
              <a:path h="11499009" w="18591951">
                <a:moveTo>
                  <a:pt x="0" y="0"/>
                </a:moveTo>
                <a:lnTo>
                  <a:pt x="18591951" y="0"/>
                </a:lnTo>
                <a:lnTo>
                  <a:pt x="18591951" y="11499009"/>
                </a:lnTo>
                <a:lnTo>
                  <a:pt x="0" y="114990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60" r="0" b="-386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6525260" y="1352052"/>
            <a:ext cx="26187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29214" y="2366897"/>
            <a:ext cx="7519988" cy="3538538"/>
            <a:chOff x="0" y="0"/>
            <a:chExt cx="1980573" cy="9319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80573" cy="931960"/>
            </a:xfrm>
            <a:custGeom>
              <a:avLst/>
              <a:gdLst/>
              <a:ahLst/>
              <a:cxnLst/>
              <a:rect r="r" b="b" t="t" l="l"/>
              <a:pathLst>
                <a:path h="931960" w="1980573">
                  <a:moveTo>
                    <a:pt x="52505" y="0"/>
                  </a:moveTo>
                  <a:lnTo>
                    <a:pt x="1928068" y="0"/>
                  </a:lnTo>
                  <a:cubicBezTo>
                    <a:pt x="1941993" y="0"/>
                    <a:pt x="1955348" y="5532"/>
                    <a:pt x="1965195" y="15378"/>
                  </a:cubicBezTo>
                  <a:cubicBezTo>
                    <a:pt x="1975041" y="25225"/>
                    <a:pt x="1980573" y="38580"/>
                    <a:pt x="1980573" y="52505"/>
                  </a:cubicBezTo>
                  <a:lnTo>
                    <a:pt x="1980573" y="879455"/>
                  </a:lnTo>
                  <a:cubicBezTo>
                    <a:pt x="1980573" y="893381"/>
                    <a:pt x="1975041" y="906735"/>
                    <a:pt x="1965195" y="916582"/>
                  </a:cubicBezTo>
                  <a:cubicBezTo>
                    <a:pt x="1955348" y="926429"/>
                    <a:pt x="1941993" y="931960"/>
                    <a:pt x="1928068" y="931960"/>
                  </a:cubicBezTo>
                  <a:lnTo>
                    <a:pt x="52505" y="931960"/>
                  </a:lnTo>
                  <a:cubicBezTo>
                    <a:pt x="23507" y="931960"/>
                    <a:pt x="0" y="908453"/>
                    <a:pt x="0" y="879455"/>
                  </a:cubicBezTo>
                  <a:lnTo>
                    <a:pt x="0" y="52505"/>
                  </a:lnTo>
                  <a:cubicBezTo>
                    <a:pt x="0" y="38580"/>
                    <a:pt x="5532" y="25225"/>
                    <a:pt x="15378" y="15378"/>
                  </a:cubicBezTo>
                  <a:cubicBezTo>
                    <a:pt x="25225" y="5532"/>
                    <a:pt x="38580" y="0"/>
                    <a:pt x="52505" y="0"/>
                  </a:cubicBezTo>
                  <a:close/>
                </a:path>
              </a:pathLst>
            </a:custGeom>
            <a:solidFill>
              <a:srgbClr val="D2D2D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980573" cy="9795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621342" y="2366897"/>
            <a:ext cx="7838222" cy="3538538"/>
            <a:chOff x="0" y="0"/>
            <a:chExt cx="2064388" cy="9319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64388" cy="931960"/>
            </a:xfrm>
            <a:custGeom>
              <a:avLst/>
              <a:gdLst/>
              <a:ahLst/>
              <a:cxnLst/>
              <a:rect r="r" b="b" t="t" l="l"/>
              <a:pathLst>
                <a:path h="931960" w="2064388">
                  <a:moveTo>
                    <a:pt x="50373" y="0"/>
                  </a:moveTo>
                  <a:lnTo>
                    <a:pt x="2014014" y="0"/>
                  </a:lnTo>
                  <a:cubicBezTo>
                    <a:pt x="2027374" y="0"/>
                    <a:pt x="2040187" y="5307"/>
                    <a:pt x="2049634" y="14754"/>
                  </a:cubicBezTo>
                  <a:cubicBezTo>
                    <a:pt x="2059080" y="24201"/>
                    <a:pt x="2064388" y="37014"/>
                    <a:pt x="2064388" y="50373"/>
                  </a:cubicBezTo>
                  <a:lnTo>
                    <a:pt x="2064388" y="881587"/>
                  </a:lnTo>
                  <a:cubicBezTo>
                    <a:pt x="2064388" y="909407"/>
                    <a:pt x="2041835" y="931960"/>
                    <a:pt x="2014014" y="931960"/>
                  </a:cubicBezTo>
                  <a:lnTo>
                    <a:pt x="50373" y="931960"/>
                  </a:lnTo>
                  <a:cubicBezTo>
                    <a:pt x="22553" y="931960"/>
                    <a:pt x="0" y="909407"/>
                    <a:pt x="0" y="881587"/>
                  </a:cubicBezTo>
                  <a:lnTo>
                    <a:pt x="0" y="50373"/>
                  </a:lnTo>
                  <a:cubicBezTo>
                    <a:pt x="0" y="37014"/>
                    <a:pt x="5307" y="24201"/>
                    <a:pt x="14754" y="14754"/>
                  </a:cubicBezTo>
                  <a:cubicBezTo>
                    <a:pt x="24201" y="5307"/>
                    <a:pt x="37014" y="0"/>
                    <a:pt x="50373" y="0"/>
                  </a:cubicBezTo>
                  <a:close/>
                </a:path>
              </a:pathLst>
            </a:custGeom>
            <a:solidFill>
              <a:srgbClr val="DCDCDC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064388" cy="9795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5838845" y="499909"/>
            <a:ext cx="4957463" cy="738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US" sz="4298">
                <a:solidFill>
                  <a:srgbClr val="593C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MILESTONE-1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013404" y="1361577"/>
            <a:ext cx="6982970" cy="659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5"/>
              </a:lnSpc>
              <a:spcBef>
                <a:spcPct val="0"/>
              </a:spcBef>
            </a:pPr>
            <a:r>
              <a:rPr lang="en-US" sz="36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Document Ingestion &amp; OCR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393000" y="2596253"/>
            <a:ext cx="7895000" cy="801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11"/>
              </a:lnSpc>
              <a:spcBef>
                <a:spcPct val="0"/>
              </a:spcBef>
            </a:pPr>
            <a:r>
              <a:rPr lang="en-US" b="true" sz="443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Techologies Used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6162609"/>
            <a:ext cx="12222828" cy="1826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8"/>
              </a:lnSpc>
            </a:pPr>
            <a:r>
              <a:rPr lang="en-US" sz="294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Explanation</a:t>
            </a:r>
          </a:p>
          <a:p>
            <a:pPr algn="l">
              <a:lnSpc>
                <a:spcPts val="3848"/>
              </a:lnSpc>
            </a:pPr>
            <a:r>
              <a:rPr lang="en-US" sz="274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Receipts are uploaded and enhanced for clarity. OCR converts images into machine-readable text.</a:t>
            </a:r>
          </a:p>
          <a:p>
            <a:pPr algn="l">
              <a:lnSpc>
                <a:spcPts val="2448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974561" y="2615303"/>
            <a:ext cx="6570702" cy="296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1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Objectives</a:t>
            </a:r>
          </a:p>
          <a:p>
            <a:pPr algn="ctr" marL="647702" indent="-323851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Upload receipts (PDF, JPG, PNG)</a:t>
            </a:r>
          </a:p>
          <a:p>
            <a:pPr algn="ctr" marL="647702" indent="-323851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Preprocess images</a:t>
            </a:r>
          </a:p>
          <a:p>
            <a:pPr algn="ctr" marL="647702" indent="-323851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Extract text using OCR</a:t>
            </a: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9621342" y="3400163"/>
            <a:ext cx="7739182" cy="217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47702" indent="-323851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Python</a:t>
            </a:r>
          </a:p>
          <a:p>
            <a:pPr algn="ctr" marL="647702" indent="-323851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OpenCV / Pillow (image preprocessing)</a:t>
            </a:r>
          </a:p>
          <a:p>
            <a:pPr algn="ctr" marL="647702" indent="-323851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Tesseract OCR / Groq API</a:t>
            </a:r>
          </a:p>
          <a:p>
            <a:pPr algn="ctr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067850" y="616719"/>
            <a:ext cx="4957463" cy="738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US" sz="4298">
                <a:solidFill>
                  <a:srgbClr val="593C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MILESTONE-2</a:t>
            </a:r>
          </a:p>
        </p:txBody>
      </p:sp>
      <p:sp>
        <p:nvSpPr>
          <p:cNvPr name="AutoShape 4" id="4"/>
          <p:cNvSpPr/>
          <p:nvPr/>
        </p:nvSpPr>
        <p:spPr>
          <a:xfrm>
            <a:off x="8760342" y="1579999"/>
            <a:ext cx="26187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3086100" cy="10287000"/>
            <a:chOff x="0" y="0"/>
            <a:chExt cx="812800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363309" y="1713349"/>
            <a:ext cx="6609882" cy="592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2"/>
              </a:lnSpc>
              <a:spcBef>
                <a:spcPct val="0"/>
              </a:spcBef>
            </a:pPr>
            <a:r>
              <a:rPr lang="en-US" sz="329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FIELD EXTRACTION &amp; VALIDATION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156493" y="1981070"/>
            <a:ext cx="13699589" cy="7052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0"/>
              </a:lnSpc>
            </a:pPr>
          </a:p>
          <a:p>
            <a:pPr algn="l">
              <a:lnSpc>
                <a:spcPts val="4030"/>
              </a:lnSpc>
            </a:pPr>
            <a:r>
              <a:rPr lang="en-US" sz="287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Objectives</a:t>
            </a:r>
          </a:p>
          <a:p>
            <a:pPr algn="l" marL="621601" indent="-310800" lvl="1">
              <a:lnSpc>
                <a:spcPts val="4030"/>
              </a:lnSpc>
              <a:buFont typeface="Arial"/>
              <a:buChar char="•"/>
            </a:pPr>
            <a:r>
              <a:rPr lang="en-US" sz="287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Extract vendor, date, totals, tax</a:t>
            </a:r>
          </a:p>
          <a:p>
            <a:pPr algn="l" marL="621601" indent="-310800" lvl="1">
              <a:lnSpc>
                <a:spcPts val="4030"/>
              </a:lnSpc>
              <a:buFont typeface="Arial"/>
              <a:buChar char="•"/>
            </a:pPr>
            <a:r>
              <a:rPr lang="en-US" sz="287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Validate totals &amp; detect duplicates</a:t>
            </a:r>
          </a:p>
          <a:p>
            <a:pPr algn="l" marL="621601" indent="-310800" lvl="1">
              <a:lnSpc>
                <a:spcPts val="4030"/>
              </a:lnSpc>
              <a:buFont typeface="Arial"/>
              <a:buChar char="•"/>
            </a:pPr>
            <a:r>
              <a:rPr lang="en-US" sz="287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Store structured data</a:t>
            </a:r>
          </a:p>
          <a:p>
            <a:pPr algn="l">
              <a:lnSpc>
                <a:spcPts val="4030"/>
              </a:lnSpc>
            </a:pPr>
            <a:r>
              <a:rPr lang="en-US" sz="287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Technologies Used</a:t>
            </a:r>
          </a:p>
          <a:p>
            <a:pPr algn="l" marL="621601" indent="-310800" lvl="1">
              <a:lnSpc>
                <a:spcPts val="4030"/>
              </a:lnSpc>
              <a:buFont typeface="Arial"/>
              <a:buChar char="•"/>
            </a:pPr>
            <a:r>
              <a:rPr lang="en-US" sz="287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Python Regex</a:t>
            </a:r>
          </a:p>
          <a:p>
            <a:pPr algn="l" marL="621601" indent="-310800" lvl="1">
              <a:lnSpc>
                <a:spcPts val="4030"/>
              </a:lnSpc>
              <a:buFont typeface="Arial"/>
              <a:buChar char="•"/>
            </a:pPr>
            <a:r>
              <a:rPr lang="en-US" sz="287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NLP techniques</a:t>
            </a:r>
          </a:p>
          <a:p>
            <a:pPr algn="l" marL="621601" indent="-310800" lvl="1">
              <a:lnSpc>
                <a:spcPts val="4030"/>
              </a:lnSpc>
              <a:buFont typeface="Arial"/>
              <a:buChar char="•"/>
            </a:pPr>
            <a:r>
              <a:rPr lang="en-US" sz="287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Pandas (data structuring)</a:t>
            </a:r>
          </a:p>
          <a:p>
            <a:pPr algn="l" marL="621601" indent="-310800" lvl="1">
              <a:lnSpc>
                <a:spcPts val="4030"/>
              </a:lnSpc>
              <a:buFont typeface="Arial"/>
              <a:buChar char="•"/>
            </a:pPr>
            <a:r>
              <a:rPr lang="en-US" sz="287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Hashing algorithms (duplicate detection)</a:t>
            </a:r>
          </a:p>
          <a:p>
            <a:pPr algn="l">
              <a:lnSpc>
                <a:spcPts val="4030"/>
              </a:lnSpc>
            </a:pPr>
            <a:r>
              <a:rPr lang="en-US" sz="287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Explanation</a:t>
            </a:r>
          </a:p>
          <a:p>
            <a:pPr algn="l">
              <a:lnSpc>
                <a:spcPts val="4030"/>
              </a:lnSpc>
            </a:pPr>
            <a:r>
              <a:rPr lang="en-US" sz="287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Regex &amp; NLP extract key fields. Validation ensures correct totals and removes duplicates.</a:t>
            </a:r>
          </a:p>
          <a:p>
            <a:pPr algn="l">
              <a:lnSpc>
                <a:spcPts val="403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7453539" y="1261890"/>
            <a:ext cx="26187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547384" y="1552402"/>
            <a:ext cx="6757620" cy="3809608"/>
          </a:xfrm>
          <a:custGeom>
            <a:avLst/>
            <a:gdLst/>
            <a:ahLst/>
            <a:cxnLst/>
            <a:rect r="r" b="b" t="t" l="l"/>
            <a:pathLst>
              <a:path h="3809608" w="6757620">
                <a:moveTo>
                  <a:pt x="0" y="0"/>
                </a:moveTo>
                <a:lnTo>
                  <a:pt x="6757620" y="0"/>
                </a:lnTo>
                <a:lnTo>
                  <a:pt x="6757620" y="3809608"/>
                </a:lnTo>
                <a:lnTo>
                  <a:pt x="0" y="3809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01139" y="5362010"/>
            <a:ext cx="6450110" cy="3153886"/>
          </a:xfrm>
          <a:custGeom>
            <a:avLst/>
            <a:gdLst/>
            <a:ahLst/>
            <a:cxnLst/>
            <a:rect r="r" b="b" t="t" l="l"/>
            <a:pathLst>
              <a:path h="3153886" w="6450110">
                <a:moveTo>
                  <a:pt x="0" y="0"/>
                </a:moveTo>
                <a:lnTo>
                  <a:pt x="6450110" y="0"/>
                </a:lnTo>
                <a:lnTo>
                  <a:pt x="6450110" y="3153887"/>
                </a:lnTo>
                <a:lnTo>
                  <a:pt x="0" y="31538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511" r="0" b="-151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733836" y="1552402"/>
            <a:ext cx="6421953" cy="4275314"/>
          </a:xfrm>
          <a:custGeom>
            <a:avLst/>
            <a:gdLst/>
            <a:ahLst/>
            <a:cxnLst/>
            <a:rect r="r" b="b" t="t" l="l"/>
            <a:pathLst>
              <a:path h="4275314" w="6421953">
                <a:moveTo>
                  <a:pt x="0" y="0"/>
                </a:moveTo>
                <a:lnTo>
                  <a:pt x="6421953" y="0"/>
                </a:lnTo>
                <a:lnTo>
                  <a:pt x="6421953" y="4275314"/>
                </a:lnTo>
                <a:lnTo>
                  <a:pt x="0" y="42753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072279" y="6103941"/>
            <a:ext cx="6083510" cy="4041552"/>
          </a:xfrm>
          <a:custGeom>
            <a:avLst/>
            <a:gdLst/>
            <a:ahLst/>
            <a:cxnLst/>
            <a:rect r="r" b="b" t="t" l="l"/>
            <a:pathLst>
              <a:path h="4041552" w="6083510">
                <a:moveTo>
                  <a:pt x="0" y="0"/>
                </a:moveTo>
                <a:lnTo>
                  <a:pt x="6083510" y="0"/>
                </a:lnTo>
                <a:lnTo>
                  <a:pt x="6083510" y="4041552"/>
                </a:lnTo>
                <a:lnTo>
                  <a:pt x="0" y="40415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47384" y="109281"/>
            <a:ext cx="14431050" cy="862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82"/>
              </a:lnSpc>
              <a:spcBef>
                <a:spcPct val="0"/>
              </a:spcBef>
            </a:pPr>
            <a:r>
              <a:rPr lang="en-US" b="true" sz="505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Outcomes of Milestone 1 and 2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6468" y="616719"/>
            <a:ext cx="4957463" cy="738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US" sz="4298">
                <a:solidFill>
                  <a:srgbClr val="593C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MILESTONE-3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1029660" y="1648563"/>
            <a:ext cx="3254698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5201900" y="0"/>
            <a:ext cx="3086100" cy="10287000"/>
            <a:chOff x="0" y="0"/>
            <a:chExt cx="812800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853907" y="-210419"/>
            <a:ext cx="5778557" cy="5558059"/>
          </a:xfrm>
          <a:custGeom>
            <a:avLst/>
            <a:gdLst/>
            <a:ahLst/>
            <a:cxnLst/>
            <a:rect r="r" b="b" t="t" l="l"/>
            <a:pathLst>
              <a:path h="5558059" w="5778557">
                <a:moveTo>
                  <a:pt x="0" y="0"/>
                </a:moveTo>
                <a:lnTo>
                  <a:pt x="5778556" y="0"/>
                </a:lnTo>
                <a:lnTo>
                  <a:pt x="5778556" y="5558059"/>
                </a:lnTo>
                <a:lnTo>
                  <a:pt x="0" y="55580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870666" y="4599486"/>
            <a:ext cx="7627752" cy="5867692"/>
          </a:xfrm>
          <a:custGeom>
            <a:avLst/>
            <a:gdLst/>
            <a:ahLst/>
            <a:cxnLst/>
            <a:rect r="r" b="b" t="t" l="l"/>
            <a:pathLst>
              <a:path h="5867692" w="7627752">
                <a:moveTo>
                  <a:pt x="0" y="0"/>
                </a:moveTo>
                <a:lnTo>
                  <a:pt x="7627753" y="0"/>
                </a:lnTo>
                <a:lnTo>
                  <a:pt x="7627753" y="5867692"/>
                </a:lnTo>
                <a:lnTo>
                  <a:pt x="0" y="58676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530" r="0" b="-733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089523" y="1886688"/>
            <a:ext cx="6164596" cy="523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6"/>
              </a:lnSpc>
              <a:spcBef>
                <a:spcPct val="0"/>
              </a:spcBef>
            </a:pPr>
            <a:r>
              <a:rPr lang="en-US" sz="299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DASHBOARD &amp; REPORTING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32809" y="2683779"/>
            <a:ext cx="7576005" cy="6659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8"/>
              </a:lnSpc>
            </a:pPr>
            <a:r>
              <a:rPr lang="en-US" sz="3077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Objectives</a:t>
            </a:r>
          </a:p>
          <a:p>
            <a:pPr algn="l" marL="664482" indent="-332241" lvl="1">
              <a:lnSpc>
                <a:spcPts val="4308"/>
              </a:lnSpc>
              <a:buFont typeface="Arial"/>
              <a:buChar char="•"/>
            </a:pPr>
            <a:r>
              <a:rPr lang="en-US" sz="307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Build user dashboard</a:t>
            </a:r>
          </a:p>
          <a:p>
            <a:pPr algn="l" marL="664482" indent="-332241" lvl="1">
              <a:lnSpc>
                <a:spcPts val="4308"/>
              </a:lnSpc>
              <a:buFont typeface="Arial"/>
              <a:buChar char="•"/>
            </a:pPr>
            <a:r>
              <a:rPr lang="en-US" sz="307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Export reports (CSV/Excel)</a:t>
            </a:r>
          </a:p>
          <a:p>
            <a:pPr algn="l" marL="664482" indent="-332241" lvl="1">
              <a:lnSpc>
                <a:spcPts val="4308"/>
              </a:lnSpc>
              <a:buFont typeface="Arial"/>
              <a:buChar char="•"/>
            </a:pPr>
            <a:r>
              <a:rPr lang="en-US" sz="307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Show spending analytics</a:t>
            </a:r>
          </a:p>
          <a:p>
            <a:pPr algn="l">
              <a:lnSpc>
                <a:spcPts val="4308"/>
              </a:lnSpc>
            </a:pPr>
            <a:r>
              <a:rPr lang="en-US" sz="3077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Technologies Used</a:t>
            </a:r>
          </a:p>
          <a:p>
            <a:pPr algn="l" marL="599714" indent="-299857" lvl="1">
              <a:lnSpc>
                <a:spcPts val="3888"/>
              </a:lnSpc>
              <a:buFont typeface="Arial"/>
              <a:buChar char="•"/>
            </a:pPr>
            <a:r>
              <a:rPr lang="en-US" sz="277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Streamlit / Flask</a:t>
            </a:r>
          </a:p>
          <a:p>
            <a:pPr algn="l" marL="599714" indent="-299857" lvl="1">
              <a:lnSpc>
                <a:spcPts val="3888"/>
              </a:lnSpc>
              <a:buFont typeface="Arial"/>
              <a:buChar char="•"/>
            </a:pPr>
            <a:r>
              <a:rPr lang="en-US" sz="277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Pandas</a:t>
            </a:r>
          </a:p>
          <a:p>
            <a:pPr algn="l" marL="599714" indent="-299857" lvl="1">
              <a:lnSpc>
                <a:spcPts val="3888"/>
              </a:lnSpc>
              <a:buFont typeface="Arial"/>
              <a:buChar char="•"/>
            </a:pPr>
            <a:r>
              <a:rPr lang="en-US" sz="277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Matplotlib / Plotly (charts &amp; analytics)</a:t>
            </a:r>
          </a:p>
          <a:p>
            <a:pPr algn="l">
              <a:lnSpc>
                <a:spcPts val="4168"/>
              </a:lnSpc>
            </a:pPr>
            <a:r>
              <a:rPr lang="en-US" sz="2977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Explanation</a:t>
            </a:r>
          </a:p>
          <a:p>
            <a:pPr algn="l">
              <a:lnSpc>
                <a:spcPts val="3888"/>
              </a:lnSpc>
            </a:pPr>
            <a:r>
              <a:rPr lang="en-US" sz="277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Dashboard allows users to review receipts, download reports, and view expense insights.</a:t>
            </a:r>
          </a:p>
          <a:p>
            <a:pPr algn="l">
              <a:lnSpc>
                <a:spcPts val="388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16719"/>
            <a:ext cx="4957463" cy="738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US" sz="4298">
                <a:solidFill>
                  <a:srgbClr val="593C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MILESTONE-4</a:t>
            </a:r>
          </a:p>
        </p:txBody>
      </p:sp>
      <p:sp>
        <p:nvSpPr>
          <p:cNvPr name="AutoShape 3" id="3"/>
          <p:cNvSpPr/>
          <p:nvPr/>
        </p:nvSpPr>
        <p:spPr>
          <a:xfrm>
            <a:off x="2198061" y="1374006"/>
            <a:ext cx="26187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5400000">
            <a:off x="7480300" y="-520700"/>
            <a:ext cx="3327400" cy="18288000"/>
            <a:chOff x="0" y="0"/>
            <a:chExt cx="876352" cy="481659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76352" cy="4816592"/>
            </a:xfrm>
            <a:custGeom>
              <a:avLst/>
              <a:gdLst/>
              <a:ahLst/>
              <a:cxnLst/>
              <a:rect r="r" b="b" t="t" l="l"/>
              <a:pathLst>
                <a:path h="4816592" w="876352">
                  <a:moveTo>
                    <a:pt x="0" y="0"/>
                  </a:moveTo>
                  <a:lnTo>
                    <a:pt x="876352" y="0"/>
                  </a:lnTo>
                  <a:lnTo>
                    <a:pt x="876352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593C8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876352" cy="4864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745556" y="1499463"/>
            <a:ext cx="6065645" cy="647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0"/>
              </a:lnSpc>
              <a:spcBef>
                <a:spcPct val="0"/>
              </a:spcBef>
            </a:pPr>
            <a:r>
              <a:rPr lang="en-US" sz="36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POLISHING &amp; INTEGRATION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127635"/>
            <a:ext cx="7890379" cy="2710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0"/>
              </a:lnSpc>
            </a:pPr>
            <a:r>
              <a:rPr lang="en-US" sz="339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Objectives</a:t>
            </a:r>
          </a:p>
          <a:p>
            <a:pPr algn="l" marL="646188" indent="-323094" lvl="1">
              <a:lnSpc>
                <a:spcPts val="4190"/>
              </a:lnSpc>
              <a:buFont typeface="Arial"/>
              <a:buChar char="•"/>
            </a:pPr>
            <a:r>
              <a:rPr lang="en-US" sz="299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Improve extraction accuracy</a:t>
            </a:r>
          </a:p>
          <a:p>
            <a:pPr algn="l" marL="646188" indent="-323094" lvl="1">
              <a:lnSpc>
                <a:spcPts val="4190"/>
              </a:lnSpc>
              <a:buFont typeface="Arial"/>
              <a:buChar char="•"/>
            </a:pPr>
            <a:r>
              <a:rPr lang="en-US" sz="299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Add search &amp; filter</a:t>
            </a:r>
          </a:p>
          <a:p>
            <a:pPr algn="l" marL="646188" indent="-323094" lvl="1">
              <a:lnSpc>
                <a:spcPts val="4190"/>
              </a:lnSpc>
              <a:buFont typeface="Arial"/>
              <a:buChar char="•"/>
            </a:pPr>
            <a:r>
              <a:rPr lang="en-US" sz="299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Optimize database performance</a:t>
            </a:r>
          </a:p>
          <a:p>
            <a:pPr algn="l">
              <a:lnSpc>
                <a:spcPts val="405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8919079" y="3127635"/>
            <a:ext cx="7890379" cy="2818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Technologies Used</a:t>
            </a:r>
          </a:p>
          <a:p>
            <a:pPr algn="ctr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Template-based parsing</a:t>
            </a:r>
          </a:p>
          <a:p>
            <a:pPr algn="ctr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SQL indexing &amp; query optimization</a:t>
            </a:r>
          </a:p>
          <a:p>
            <a:pPr algn="ctr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Caching techniques</a:t>
            </a: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0" y="7082155"/>
            <a:ext cx="17838158" cy="2690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Explanation</a:t>
            </a:r>
          </a:p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Template parsing improves accuracy. Search &amp; optimization enhance performance and usability</a:t>
            </a:r>
            <a:r>
              <a:rPr lang="en-US" sz="29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.</a:t>
            </a:r>
          </a:p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20" y="1494821"/>
            <a:ext cx="6544963" cy="738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US" sz="4298">
                <a:solidFill>
                  <a:srgbClr val="593C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CONCLUSION</a:t>
            </a:r>
          </a:p>
        </p:txBody>
      </p:sp>
      <p:sp>
        <p:nvSpPr>
          <p:cNvPr name="AutoShape 4" id="4"/>
          <p:cNvSpPr/>
          <p:nvPr/>
        </p:nvSpPr>
        <p:spPr>
          <a:xfrm flipH="true">
            <a:off x="1028720" y="2186817"/>
            <a:ext cx="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029792" y="2252109"/>
            <a:ext cx="26187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027649" y="8507397"/>
            <a:ext cx="2087283" cy="521821"/>
          </a:xfrm>
          <a:custGeom>
            <a:avLst/>
            <a:gdLst/>
            <a:ahLst/>
            <a:cxnLst/>
            <a:rect r="r" b="b" t="t" l="l"/>
            <a:pathLst>
              <a:path h="521821" w="2087283">
                <a:moveTo>
                  <a:pt x="0" y="0"/>
                </a:moveTo>
                <a:lnTo>
                  <a:pt x="2087282" y="0"/>
                </a:lnTo>
                <a:lnTo>
                  <a:pt x="2087282" y="521821"/>
                </a:lnTo>
                <a:lnTo>
                  <a:pt x="0" y="5218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336433" y="214312"/>
            <a:ext cx="10714317" cy="10287000"/>
            <a:chOff x="0" y="0"/>
            <a:chExt cx="2821878" cy="2709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21878" cy="2709333"/>
            </a:xfrm>
            <a:custGeom>
              <a:avLst/>
              <a:gdLst/>
              <a:ahLst/>
              <a:cxnLst/>
              <a:rect r="r" b="b" t="t" l="l"/>
              <a:pathLst>
                <a:path h="2709333" w="2821878">
                  <a:moveTo>
                    <a:pt x="0" y="0"/>
                  </a:moveTo>
                  <a:lnTo>
                    <a:pt x="2821878" y="0"/>
                  </a:lnTo>
                  <a:lnTo>
                    <a:pt x="282187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821878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9792" y="2782963"/>
            <a:ext cx="12417412" cy="5117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8050" indent="-349025" lvl="1">
              <a:lnSpc>
                <a:spcPts val="4526"/>
              </a:lnSpc>
              <a:buFont typeface="Arial"/>
              <a:buChar char="•"/>
            </a:pPr>
            <a:r>
              <a:rPr lang="en-US" sz="323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Receipt &amp; Invoice Digitizer simplifies receipt management by turning paper documents into organized digital data.</a:t>
            </a:r>
          </a:p>
          <a:p>
            <a:pPr algn="l">
              <a:lnSpc>
                <a:spcPts val="4526"/>
              </a:lnSpc>
            </a:pPr>
          </a:p>
          <a:p>
            <a:pPr algn="l" marL="698050" indent="-349025" lvl="1">
              <a:lnSpc>
                <a:spcPts val="4526"/>
              </a:lnSpc>
              <a:buFont typeface="Arial"/>
              <a:buChar char="•"/>
            </a:pPr>
            <a:r>
              <a:rPr lang="en-US" sz="323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It saves time, reduces errors, and provides clear expense insights through an easy-to-use dashboard.</a:t>
            </a:r>
          </a:p>
          <a:p>
            <a:pPr algn="l">
              <a:lnSpc>
                <a:spcPts val="4526"/>
              </a:lnSpc>
            </a:pPr>
          </a:p>
          <a:p>
            <a:pPr algn="l" marL="698050" indent="-349025" lvl="1">
              <a:lnSpc>
                <a:spcPts val="4526"/>
              </a:lnSpc>
              <a:buFont typeface="Arial"/>
              <a:buChar char="•"/>
            </a:pPr>
            <a:r>
              <a:rPr lang="en-US" sz="323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This project demonstrates how technology can solve real-world problems and improve efficiency.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143500"/>
            <a:ext cx="18288000" cy="5143500"/>
            <a:chOff x="0" y="0"/>
            <a:chExt cx="4816593" cy="13546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354667"/>
            </a:xfrm>
            <a:custGeom>
              <a:avLst/>
              <a:gdLst/>
              <a:ahLst/>
              <a:cxnLst/>
              <a:rect r="r" b="b" t="t" l="l"/>
              <a:pathLst>
                <a:path h="135466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FFFFFF">
                <a:alpha val="9098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14022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072171" y="3768345"/>
            <a:ext cx="10143658" cy="1375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72"/>
              </a:lnSpc>
              <a:spcBef>
                <a:spcPct val="0"/>
              </a:spcBef>
            </a:pPr>
            <a:r>
              <a:rPr lang="en-US" sz="8051">
                <a:solidFill>
                  <a:srgbClr val="593C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  <p:sp>
        <p:nvSpPr>
          <p:cNvPr name="AutoShape 6" id="6"/>
          <p:cNvSpPr/>
          <p:nvPr/>
        </p:nvSpPr>
        <p:spPr>
          <a:xfrm>
            <a:off x="7207568" y="5730991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DAHBsMIPMPM</dc:identifier>
  <dcterms:modified xsi:type="dcterms:W3CDTF">2011-08-01T06:04:30Z</dcterms:modified>
  <cp:revision>1</cp:revision>
  <dc:title>Purple &amp;  white business profile presentation</dc:title>
</cp:coreProperties>
</file>